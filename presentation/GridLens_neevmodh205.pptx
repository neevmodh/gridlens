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2343636934a75" /><Relationship Type="http://schemas.openxmlformats.org/officeDocument/2006/relationships/extended-properties" Target="/docProps/app.xml" Id="Ra45d38fe4775467a" /><Relationship Type="http://schemas.openxmlformats.org/officeDocument/2006/relationships/officeDocument" Target="/ppt/presentation.xml" Id="R517f4ea36ed34c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b44e3d7844776"/>
  </p:sldMasterIdLst>
  <p:notesMasterIdLst>
    <p:notesMasterId xmlns:r="http://schemas.openxmlformats.org/officeDocument/2006/relationships" r:id="R50256e6b78a94727"/>
  </p:notesMasterIdLst>
  <p:sldIdLst>
    <p:sldId xmlns:r="http://schemas.openxmlformats.org/officeDocument/2006/relationships" id="256" r:id="Ref22187b98134aae"/>
    <p:sldId xmlns:r="http://schemas.openxmlformats.org/officeDocument/2006/relationships" id="257" r:id="Rcb9aa4a149024baa"/>
    <p:sldId xmlns:r="http://schemas.openxmlformats.org/officeDocument/2006/relationships" id="258" r:id="Rd0738951a5e34311"/>
    <p:sldId xmlns:r="http://schemas.openxmlformats.org/officeDocument/2006/relationships" id="259" r:id="Ree71eda019fa4de2"/>
    <p:sldId xmlns:r="http://schemas.openxmlformats.org/officeDocument/2006/relationships" id="260" r:id="Ra89a6897dea64c47"/>
    <p:sldId xmlns:r="http://schemas.openxmlformats.org/officeDocument/2006/relationships" id="261" r:id="R720b6a2474fb40a4"/>
    <p:sldId xmlns:r="http://schemas.openxmlformats.org/officeDocument/2006/relationships" id="262" r:id="Rfb83c14910554d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112266576d4528" /><Relationship Type="http://schemas.openxmlformats.org/officeDocument/2006/relationships/slideMaster" Target="/ppt/slideMasters/slideMaster1.xml" Id="R314b44e3d7844776" /><Relationship Type="http://schemas.openxmlformats.org/officeDocument/2006/relationships/notesMaster" Target="/ppt/notesMasters/notesMaster1.xml" Id="R50256e6b78a94727" /><Relationship Type="http://schemas.openxmlformats.org/officeDocument/2006/relationships/presProps" Target="/ppt/presProps.xml" Id="Rf084c7bd2f904c0a" /><Relationship Type="http://schemas.openxmlformats.org/officeDocument/2006/relationships/tableStyles" Target="/ppt/tableStyles.xml" Id="Rbad1cbd0db8c41ab" /><Relationship Type="http://schemas.openxmlformats.org/officeDocument/2006/relationships/slide" Target="/ppt/slides/slide1.xml" Id="Ref22187b98134aae" /><Relationship Type="http://schemas.openxmlformats.org/officeDocument/2006/relationships/slide" Target="/ppt/slides/slide2.xml" Id="Rcb9aa4a149024baa" /><Relationship Type="http://schemas.openxmlformats.org/officeDocument/2006/relationships/slide" Target="/ppt/slides/slide3.xml" Id="Rd0738951a5e34311" /><Relationship Type="http://schemas.openxmlformats.org/officeDocument/2006/relationships/slide" Target="/ppt/slides/slide4.xml" Id="Ree71eda019fa4de2" /><Relationship Type="http://schemas.openxmlformats.org/officeDocument/2006/relationships/slide" Target="/ppt/slides/slide5.xml" Id="Ra89a6897dea64c47" /><Relationship Type="http://schemas.openxmlformats.org/officeDocument/2006/relationships/slide" Target="/ppt/slides/slide6.xml" Id="R720b6a2474fb40a4" /><Relationship Type="http://schemas.openxmlformats.org/officeDocument/2006/relationships/slide" Target="/ppt/slides/slide7.xml" Id="Rfb83c14910554d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7783e373e5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2d0906d9794955" /><Relationship Type="http://schemas.openxmlformats.org/officeDocument/2006/relationships/notesMaster" Target="/ppt/notesMasters/notesMaster1.xml" Id="Rd80cbe8c799f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a1992899544c9" /><Relationship Type="http://schemas.openxmlformats.org/officeDocument/2006/relationships/notesMaster" Target="/ppt/notesMasters/notesMaster1.xml" Id="R298eeede41fd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e48631e15147c9" /><Relationship Type="http://schemas.openxmlformats.org/officeDocument/2006/relationships/notesMaster" Target="/ppt/notesMasters/notesMaster1.xml" Id="Rcd3441921ccc48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1d7e405204417b" /><Relationship Type="http://schemas.openxmlformats.org/officeDocument/2006/relationships/notesMaster" Target="/ppt/notesMasters/notesMaster1.xml" Id="Rbffb14ff87974d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57ff408064315" /><Relationship Type="http://schemas.openxmlformats.org/officeDocument/2006/relationships/notesMaster" Target="/ppt/notesMasters/notesMaster1.xml" Id="R18995dad810442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3e28fa590a49e1" /><Relationship Type="http://schemas.openxmlformats.org/officeDocument/2006/relationships/notesMaster" Target="/ppt/notesMasters/notesMaster1.xml" Id="Ra38a81b18e6a44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ee25395e14aba" /><Relationship Type="http://schemas.openxmlformats.org/officeDocument/2006/relationships/notesMaster" Target="/ppt/notesMasters/notesMaster1.xml" Id="R4c5d0e2ebf5e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 supplied by participant: neevmodh205. Solo participant: Neev Modh. Cover illustration generated for this presentation, depicting a conceptual microgrid rather than an actual installation. Live project: https://gridlens-50047133296.development.catalystappsail.in/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PROBLEM_STATEMENT.pdf and docs/REQUIREMENTS_AUDIT.md. Main grid mode recharges the modeled battery at the configured rate. Renewable storage is a simulation; solar irradiance is a demand feature, not an assumed charging rate. No physical switching hardware is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Images: actual GridLens public application, captured 24 October 2026. Desktop screenshot uses the desktop responsive breakpoint. Mobile screenshot uses 390×844. Historical official telemetry is clearly labeled in the application. CSV upload, editable hourly inputs, chart interactions, battery scenario lab, run history and exports are implemented. https://gridlens-50047133296.development.catalystappsail.in/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app.py, energy/telemetry.py, energy/quickml.py, energy/catalyst.py and energy/history.py. Public frontend and Python backend run together on Catalyst AppSail. QuickML feature schema is engineered. Credentials stay server-side. Data Store ownership filters hash the browser session. Source: README.md, docs/CLOUD_STATUS.md, docs/QUICKML_SETUP.md. Diagram depicts logical inference flow; API orchestration also evaluates controller and battery calculations.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 source: validation/quickml_predictions.csv, first 24 rows. Each prediction came from the deployed QuickML service. Timestamp order matches sample_test_input.csv. Rules: supplied problem statement and energy/controller.py. Native chart data remain editable. The evening override applies even when demand is below or equal to 160 kW. Battery shortfall does not change the mandated source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models/quickml-evaluation.json; validation/official-self-test.txt; validation/live-evaluation.json; docs/VALIDATION.md. Exact QuickML metrics: RMSE 8.2733 kW, MAE 6.54336 kW, R² 0.97293. AutoML controls the evaluation split. This is not the hidden-test score or a direct comparison with local chronological validation. The official self-test establishes prediction count/shape/finiteness, not accuracy. The 1,000-row CSV CLI also preserves timestamps and exact output columns. Durable history survived a real AppSail redeployment: validation/history-redeployment.txt.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Clickable links: https://gridlens-50047133296.development.catalystappsail.in/ and https://github.com/neevmodh/GridLens. Repository publication is a separate operation from generating these slides. Team name and solo status supplied by participant. Illustration repeats as a background to close the deck. Research that informed the implementation: https://otext.robjhyndman.com/publications/kaggleloadforecasting/ ; https://otexts.com/fpp3/tscv.html ; https://github.com/Total-RD/pymgrid . See docs/RESEARCH.md for design decisions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18252a97144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cdc539b6e4c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7f3a2836946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d261b1d7247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dc60e273c40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e82e6eae4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19E2EB-0547-48E6-8706-F70B63400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B32DDD-8D2A-4E8C-9768-66F864BAEA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CB80DF-120C-4D36-A3CE-91288AE92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82D085-1E76-4408-9112-BEB3B72FE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E5FF8A-C704-44C1-80C5-BED63E9849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F6217A-261A-40AE-88BC-A43E6ECF5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2C44E3-733E-4C28-86DE-9FEFFD24D9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DE3412-66C6-4F24-88EE-5603184903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B9A687-B24A-4802-9C2C-F0BA74F20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90B498-1F03-4DB4-9006-B8D4B8EBF7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b25d4405b940bd" /><Relationship Type="http://schemas.openxmlformats.org/officeDocument/2006/relationships/slideLayout" Target="/ppt/slideLayouts/slideLayout1.xml" Id="Rf0a77915b8e84f6c" /><Relationship Type="http://schemas.openxmlformats.org/officeDocument/2006/relationships/slideLayout" Target="/ppt/slideLayouts/slideLayout2.xml" Id="Rbbd902621e2a4c45" /><Relationship Type="http://schemas.openxmlformats.org/officeDocument/2006/relationships/slideLayout" Target="/ppt/slideLayouts/slideLayout3.xml" Id="R7d7c5407f4314b3e" /><Relationship Type="http://schemas.openxmlformats.org/officeDocument/2006/relationships/slideLayout" Target="/ppt/slideLayouts/slideLayout4.xml" Id="Rb000b7d301604750" /><Relationship Type="http://schemas.openxmlformats.org/officeDocument/2006/relationships/slideLayout" Target="/ppt/slideLayouts/slideLayout5.xml" Id="R36e3886be75b4d6c" /><Relationship Type="http://schemas.openxmlformats.org/officeDocument/2006/relationships/slideLayout" Target="/ppt/slideLayouts/slideLayout6.xml" Id="R5f9b6bf9c08349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77915b8e84f6c"/>
    <p:sldLayoutId xmlns:r="http://schemas.openxmlformats.org/officeDocument/2006/relationships" id="2147483650" r:id="Rbbd902621e2a4c45"/>
    <p:sldLayoutId xmlns:r="http://schemas.openxmlformats.org/officeDocument/2006/relationships" id="2147483651" r:id="R7d7c5407f4314b3e"/>
    <p:sldLayoutId xmlns:r="http://schemas.openxmlformats.org/officeDocument/2006/relationships" id="2147483652" r:id="Rb000b7d301604750"/>
    <p:sldLayoutId xmlns:r="http://schemas.openxmlformats.org/officeDocument/2006/relationships" id="2147483653" r:id="R36e3886be75b4d6c"/>
    <p:sldLayoutId xmlns:r="http://schemas.openxmlformats.org/officeDocument/2006/relationships" id="2147483654" r:id="R5f9b6bf9c08349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52597040c466f" /><Relationship Type="http://schemas.openxmlformats.org/officeDocument/2006/relationships/image" Target="/ppt/media/image.png" Id="Rcc94ece70e804b82" /><Relationship Type="http://schemas.openxmlformats.org/officeDocument/2006/relationships/notesSlide" Target="/ppt/notesSlides/notesSlide1.xml" Id="R96db05faf01944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8d2375c8348ea" /><Relationship Type="http://schemas.openxmlformats.org/officeDocument/2006/relationships/notesSlide" Target="/ppt/notesSlides/notesSlide2.xml" Id="R145bff553b4642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071c88b634601" /><Relationship Type="http://schemas.openxmlformats.org/officeDocument/2006/relationships/image" Target="/ppt/media/image.jpeg" Id="R0d42c45e41424047" /><Relationship Type="http://schemas.openxmlformats.org/officeDocument/2006/relationships/image" Target="/ppt/media/image2.jpeg" Id="R58096c2d3048445a" /><Relationship Type="http://schemas.openxmlformats.org/officeDocument/2006/relationships/hyperlink" Target="https://gridlens-50047133296.development.catalystappsail.in/" TargetMode="External" Id="R64475891bc7e47fc" /><Relationship Type="http://schemas.openxmlformats.org/officeDocument/2006/relationships/notesSlide" Target="/ppt/notesSlides/notesSlide3.xml" Id="R431291c65e2344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51bd5fa00a4d3b" /><Relationship Type="http://schemas.openxmlformats.org/officeDocument/2006/relationships/notesSlide" Target="/ppt/notesSlides/notesSlide4.xml" Id="R571da0eebc3b46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adf1fa02549de" /><Relationship Type="http://schemas.openxmlformats.org/officeDocument/2006/relationships/chart" Target="/ppt/slides/charts/chart1.xml" Id="R678be63decfb4408" /><Relationship Type="http://schemas.openxmlformats.org/officeDocument/2006/relationships/notesSlide" Target="/ppt/notesSlides/notesSlide5.xml" Id="R53546346c7a64c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67c76e4804bef" /><Relationship Type="http://schemas.openxmlformats.org/officeDocument/2006/relationships/notesSlide" Target="/ppt/notesSlides/notesSlide6.xml" Id="R096f72f5283649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c9b6051f84491" /><Relationship Type="http://schemas.openxmlformats.org/officeDocument/2006/relationships/image" Target="/ppt/media/image2.png" Id="R3aacb2462ca349de" /><Relationship Type="http://schemas.openxmlformats.org/officeDocument/2006/relationships/hyperlink" Target="https://gridlens-50047133296.development.catalystappsail.in/" TargetMode="External" Id="R2038c6219e8949d2" /><Relationship Type="http://schemas.openxmlformats.org/officeDocument/2006/relationships/hyperlink" Target="https://github.com/neevmodh/GridLens" TargetMode="External" Id="R5a07e474f7244139" /><Relationship Type="http://schemas.openxmlformats.org/officeDocument/2006/relationships/notesSlide" Target="/ppt/notesSlides/notesSlide7.xml" Id="R2d0d311ca11a449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QuickML demand</c:v>
          </c:tx>
          <c:spPr>
            <a:ln xmlns:a="http://schemas.openxmlformats.org/drawingml/2006/main" w="28575">
              <a:solidFill>
                <a:srgbClr val="207758"/>
              </a:solidFill>
            </a:ln>
          </c:spPr>
          <c:marker>
            <c:symbol val="none"/>
          </c:marker>
          <c:cat>
            <c:strLit>
              <c:ptCount val="24"/>
              <c:pt idx="0">
                <c:v>15:00</c:v>
              </c:pt>
              <c:pt idx="1">
                <c:v>16:00</c:v>
              </c:pt>
              <c:pt idx="2">
                <c:v>17:00</c:v>
              </c:pt>
              <c:pt idx="3">
                <c:v>18:00</c:v>
              </c:pt>
              <c:pt idx="4">
                <c:v>19:00</c:v>
              </c:pt>
              <c:pt idx="5">
                <c:v>20:00</c:v>
              </c:pt>
              <c:pt idx="6">
                <c:v>21:00</c:v>
              </c:pt>
              <c:pt idx="7">
                <c:v>22:00</c:v>
              </c:pt>
              <c:pt idx="8">
                <c:v>23:00</c:v>
              </c:pt>
              <c:pt idx="9">
                <c:v>00:00</c:v>
              </c:pt>
              <c:pt idx="10">
                <c:v>01:00</c:v>
              </c:pt>
              <c:pt idx="11">
                <c:v>02:00</c:v>
              </c:pt>
              <c:pt idx="12">
                <c:v>03:00</c:v>
              </c:pt>
              <c:pt idx="13">
                <c:v>04:00</c:v>
              </c:pt>
              <c:pt idx="14">
                <c:v>05:00</c:v>
              </c:pt>
              <c:pt idx="15">
                <c:v>06:00</c:v>
              </c:pt>
              <c:pt idx="16">
                <c:v>07:00</c:v>
              </c:pt>
              <c:pt idx="17">
                <c:v>08:00</c:v>
              </c:pt>
              <c:pt idx="18">
                <c:v>09:00</c:v>
              </c:pt>
              <c:pt idx="19">
                <c:v>10:00</c:v>
              </c:pt>
              <c:pt idx="20">
                <c:v>11:00</c:v>
              </c:pt>
              <c:pt idx="21">
                <c:v>12:00</c:v>
              </c:pt>
              <c:pt idx="22">
                <c:v>13:00</c:v>
              </c:pt>
              <c:pt idx="23">
                <c:v>14:00</c:v>
              </c:pt>
            </c:strLit>
          </c:cat>
          <c:val>
            <c:numLit>
              <c:formatCode>General</c:formatCode>
              <c:ptCount val="24"/>
              <c:pt idx="0">
                <c:v>242.3796</c:v>
              </c:pt>
              <c:pt idx="1">
                <c:v>234.4605</c:v>
              </c:pt>
              <c:pt idx="2">
                <c:v>234.1394</c:v>
              </c:pt>
              <c:pt idx="3">
                <c:v>291.3307</c:v>
              </c:pt>
              <c:pt idx="4">
                <c:v>267.7941</c:v>
              </c:pt>
              <c:pt idx="5">
                <c:v>247.3621</c:v>
              </c:pt>
              <c:pt idx="6">
                <c:v>238.9832</c:v>
              </c:pt>
              <c:pt idx="7">
                <c:v>218.5587</c:v>
              </c:pt>
              <c:pt idx="8">
                <c:v>147.9625</c:v>
              </c:pt>
              <c:pt idx="9">
                <c:v>96.3306</c:v>
              </c:pt>
              <c:pt idx="10">
                <c:v>101.5325</c:v>
              </c:pt>
              <c:pt idx="11">
                <c:v>90.1925</c:v>
              </c:pt>
              <c:pt idx="12">
                <c:v>89.4811</c:v>
              </c:pt>
              <c:pt idx="13">
                <c:v>93.8393</c:v>
              </c:pt>
              <c:pt idx="14">
                <c:v>111.5607</c:v>
              </c:pt>
              <c:pt idx="15">
                <c:v>147.7285</c:v>
              </c:pt>
              <c:pt idx="16">
                <c:v>183.7147</c:v>
              </c:pt>
              <c:pt idx="17">
                <c:v>229.1285</c:v>
              </c:pt>
              <c:pt idx="18">
                <c:v>237.3699</c:v>
              </c:pt>
              <c:pt idx="19">
                <c:v>205.0665</c:v>
              </c:pt>
              <c:pt idx="20">
                <c:v>206.594</c:v>
              </c:pt>
              <c:pt idx="21">
                <c:v>236.7713</c:v>
              </c:pt>
              <c:pt idx="22">
                <c:v>244.1573</c:v>
              </c:pt>
              <c:pt idx="23">
                <c:v>257.2283</c:v>
              </c:pt>
            </c:numLit>
          </c:val>
          <c:smooth val="0"/>
        </c:ser>
        <c:ser>
          <c:idx val="1"/>
          <c:order val="1"/>
          <c:tx>
            <c:v>Storage threshold</c:v>
          </c:tx>
          <c:spPr>
            <a:ln xmlns:a="http://schemas.openxmlformats.org/drawingml/2006/main" w="14288">
              <a:solidFill>
                <a:srgbClr val="9DAFA6"/>
              </a:solidFill>
              <a:prstDash val="dash"/>
            </a:ln>
          </c:spPr>
          <c:marker>
            <c:symbol val="none"/>
          </c:marker>
          <c:cat>
            <c:strLit>
              <c:ptCount val="24"/>
              <c:pt idx="0">
                <c:v>15:00</c:v>
              </c:pt>
              <c:pt idx="1">
                <c:v>16:00</c:v>
              </c:pt>
              <c:pt idx="2">
                <c:v>17:00</c:v>
              </c:pt>
              <c:pt idx="3">
                <c:v>18:00</c:v>
              </c:pt>
              <c:pt idx="4">
                <c:v>19:00</c:v>
              </c:pt>
              <c:pt idx="5">
                <c:v>20:00</c:v>
              </c:pt>
              <c:pt idx="6">
                <c:v>21:00</c:v>
              </c:pt>
              <c:pt idx="7">
                <c:v>22:00</c:v>
              </c:pt>
              <c:pt idx="8">
                <c:v>23:00</c:v>
              </c:pt>
              <c:pt idx="9">
                <c:v>00:00</c:v>
              </c:pt>
              <c:pt idx="10">
                <c:v>01:00</c:v>
              </c:pt>
              <c:pt idx="11">
                <c:v>02:00</c:v>
              </c:pt>
              <c:pt idx="12">
                <c:v>03:00</c:v>
              </c:pt>
              <c:pt idx="13">
                <c:v>04:00</c:v>
              </c:pt>
              <c:pt idx="14">
                <c:v>05:00</c:v>
              </c:pt>
              <c:pt idx="15">
                <c:v>06:00</c:v>
              </c:pt>
              <c:pt idx="16">
                <c:v>07:00</c:v>
              </c:pt>
              <c:pt idx="17">
                <c:v>08:00</c:v>
              </c:pt>
              <c:pt idx="18">
                <c:v>09:00</c:v>
              </c:pt>
              <c:pt idx="19">
                <c:v>10:00</c:v>
              </c:pt>
              <c:pt idx="20">
                <c:v>11:00</c:v>
              </c:pt>
              <c:pt idx="21">
                <c:v>12:00</c:v>
              </c:pt>
              <c:pt idx="22">
                <c:v>13:00</c:v>
              </c:pt>
              <c:pt idx="23">
                <c:v>14:00</c:v>
              </c:pt>
            </c:strLit>
          </c:cat>
          <c:val>
            <c:numLit>
              <c:formatCode>General</c:formatCode>
              <c:ptCount val="24"/>
              <c:pt idx="0">
                <c:v>160</c:v>
              </c:pt>
              <c:pt idx="1">
                <c:v>160</c:v>
              </c:pt>
              <c:pt idx="2">
                <c:v>160</c:v>
              </c:pt>
              <c:pt idx="3">
                <c:v>160</c:v>
              </c:pt>
              <c:pt idx="4">
                <c:v>160</c:v>
              </c:pt>
              <c:pt idx="5">
                <c:v>160</c:v>
              </c:pt>
              <c:pt idx="6">
                <c:v>160</c:v>
              </c:pt>
              <c:pt idx="7">
                <c:v>160</c:v>
              </c:pt>
              <c:pt idx="8">
                <c:v>160</c:v>
              </c:pt>
              <c:pt idx="9">
                <c:v>160</c:v>
              </c:pt>
              <c:pt idx="10">
                <c:v>160</c:v>
              </c:pt>
              <c:pt idx="11">
                <c:v>160</c:v>
              </c:pt>
              <c:pt idx="12">
                <c:v>160</c:v>
              </c:pt>
              <c:pt idx="13">
                <c:v>160</c:v>
              </c:pt>
              <c:pt idx="14">
                <c:v>160</c:v>
              </c:pt>
              <c:pt idx="15">
                <c:v>160</c:v>
              </c:pt>
              <c:pt idx="16">
                <c:v>160</c:v>
              </c:pt>
              <c:pt idx="17">
                <c:v>160</c:v>
              </c:pt>
              <c:pt idx="18">
                <c:v>160</c:v>
              </c:pt>
              <c:pt idx="19">
                <c:v>160</c:v>
              </c:pt>
              <c:pt idx="20">
                <c:v>160</c:v>
              </c:pt>
              <c:pt idx="21">
                <c:v>160</c:v>
              </c:pt>
              <c:pt idx="22">
                <c:v>160</c:v>
              </c:pt>
              <c:pt idx="23">
                <c:v>160</c:v>
              </c:pt>
            </c:numLit>
          </c:val>
          <c:smooth val="0"/>
        </c:ser>
        <c:ser>
          <c:idx val="2"/>
          <c:order val="2"/>
          <c:tx>
            <c:v>Overload threshold</c:v>
          </c:tx>
          <c:spPr>
            <a:ln xmlns:a="http://schemas.openxmlformats.org/drawingml/2006/main" w="14288">
              <a:solidFill>
                <a:srgbClr val="B48137"/>
              </a:solidFill>
              <a:prstDash val="dash"/>
            </a:ln>
          </c:spPr>
          <c:marker>
            <c:symbol val="none"/>
          </c:marker>
          <c:cat>
            <c:strLit>
              <c:ptCount val="24"/>
              <c:pt idx="0">
                <c:v>15:00</c:v>
              </c:pt>
              <c:pt idx="1">
                <c:v>16:00</c:v>
              </c:pt>
              <c:pt idx="2">
                <c:v>17:00</c:v>
              </c:pt>
              <c:pt idx="3">
                <c:v>18:00</c:v>
              </c:pt>
              <c:pt idx="4">
                <c:v>19:00</c:v>
              </c:pt>
              <c:pt idx="5">
                <c:v>20:00</c:v>
              </c:pt>
              <c:pt idx="6">
                <c:v>21:00</c:v>
              </c:pt>
              <c:pt idx="7">
                <c:v>22:00</c:v>
              </c:pt>
              <c:pt idx="8">
                <c:v>23:00</c:v>
              </c:pt>
              <c:pt idx="9">
                <c:v>00:00</c:v>
              </c:pt>
              <c:pt idx="10">
                <c:v>01:00</c:v>
              </c:pt>
              <c:pt idx="11">
                <c:v>02:00</c:v>
              </c:pt>
              <c:pt idx="12">
                <c:v>03:00</c:v>
              </c:pt>
              <c:pt idx="13">
                <c:v>04:00</c:v>
              </c:pt>
              <c:pt idx="14">
                <c:v>05:00</c:v>
              </c:pt>
              <c:pt idx="15">
                <c:v>06:00</c:v>
              </c:pt>
              <c:pt idx="16">
                <c:v>07:00</c:v>
              </c:pt>
              <c:pt idx="17">
                <c:v>08:00</c:v>
              </c:pt>
              <c:pt idx="18">
                <c:v>09:00</c:v>
              </c:pt>
              <c:pt idx="19">
                <c:v>10:00</c:v>
              </c:pt>
              <c:pt idx="20">
                <c:v>11:00</c:v>
              </c:pt>
              <c:pt idx="21">
                <c:v>12:00</c:v>
              </c:pt>
              <c:pt idx="22">
                <c:v>13:00</c:v>
              </c:pt>
              <c:pt idx="23">
                <c:v>14:00</c:v>
              </c:pt>
            </c:strLit>
          </c:cat>
          <c:val>
            <c:numLit>
              <c:formatCode>General</c:formatCode>
              <c:ptCount val="24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  <c:pt idx="7">
                <c:v>200</c:v>
              </c:pt>
              <c:pt idx="8">
                <c:v>200</c:v>
              </c:pt>
              <c:pt idx="9">
                <c:v>200</c:v>
              </c:pt>
              <c:pt idx="10">
                <c:v>200</c:v>
              </c:pt>
              <c:pt idx="11">
                <c:v>200</c:v>
              </c:pt>
              <c:pt idx="12">
                <c:v>200</c:v>
              </c:pt>
              <c:pt idx="13">
                <c:v>200</c:v>
              </c:pt>
              <c:pt idx="14">
                <c:v>200</c:v>
              </c:pt>
              <c:pt idx="15">
                <c:v>200</c:v>
              </c:pt>
              <c:pt idx="16">
                <c:v>200</c:v>
              </c:pt>
              <c:pt idx="17">
                <c:v>200</c:v>
              </c:pt>
              <c:pt idx="18">
                <c:v>200</c:v>
              </c:pt>
              <c:pt idx="19">
                <c:v>200</c:v>
              </c:pt>
              <c:pt idx="20">
                <c:v>200</c:v>
              </c:pt>
              <c:pt idx="21">
                <c:v>200</c:v>
              </c:pt>
              <c:pt idx="22">
                <c:v>200</c:v>
              </c:pt>
              <c:pt idx="23">
                <c:v>200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16B6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0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B62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5F7F6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16B6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5F7F6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209BB-A653-4590-9A14-A3F643209A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4ece70e804b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2DC9A-C7C5-4A60-A4BC-87EF81FC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D0B81-E07C-416E-A6EC-6FF30B72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8EBE0"/>
                </a:solidFill>
                <a:latin typeface="Arial"/>
                <a:ea typeface="Arial"/>
                <a:cs typeface="Arial"/>
              </a:rPr>
              <a:t>Microgrid demand forecasting</a:t>
            </a:r>
          </a:p>
          <a:p xmlns:a="http://schemas.openxmlformats.org/drawingml/2006/main">
            <a:pPr>
              <a:defRPr sz="2325" b="0">
                <a:solidFill>
                  <a:srgbClr val="D8EBE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8EBE0"/>
                </a:solidFill>
                <a:latin typeface="Arial"/>
                <a:ea typeface="Arial"/>
                <a:cs typeface="Arial"/>
              </a:rPr>
              <a:t>and dispatch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851D4-9E6C-4889-8EF9-E7060410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6D8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6D8C4"/>
                </a:solidFill>
                <a:latin typeface="Arial"/>
                <a:ea typeface="Arial"/>
                <a:cs typeface="Arial"/>
              </a:rPr>
              <a:t>HackSphere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9E4F7-BB45-4144-88B3-10268A2C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 neevmodh205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B663E-49CC-4B97-98F4-595938C0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5E2D0"/>
                </a:solidFill>
                <a:latin typeface="Arial"/>
                <a:ea typeface="Arial"/>
                <a:cs typeface="Arial"/>
              </a:rPr>
              <a:t>Neev Modh</a:t>
            </a:r>
          </a:p>
          <a:p xmlns:a="http://schemas.openxmlformats.org/drawingml/2006/main">
            <a:pPr>
              <a:defRPr sz="1650" b="0">
                <a:solidFill>
                  <a:srgbClr val="C5E2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5E2D0"/>
                </a:solidFill>
                <a:latin typeface="Arial"/>
                <a:ea typeface="Arial"/>
                <a:cs typeface="Arial"/>
              </a:rPr>
              <a:t>Solo participant</a:t>
            </a:r>
          </a:p>
        </p:txBody>
      </p:sp>
    </p:spTree>
    <p:extLst>
      <p:ext uri="{BB962C8B-B14F-4D97-AF65-F5344CB8AC3E}">
        <p14:creationId xmlns:p14="http://schemas.microsoft.com/office/powerpoint/2010/main" val="1330794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62662-B872-4DA4-8B34-844F6CA230C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24750" y="38195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AFB1A-FA16-409D-B9E0-F9884D4E604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524250" y="3819525"/>
            <a:ext cx="12382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72856-F168-42F9-949F-8BC23E072CC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524250" y="2933700"/>
            <a:ext cx="1238250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B15E2-746C-4EB1-86C4-7BF2355B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The microgrid planning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C1BF0-7DC6-4872-9BEF-D13DC100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Weather changes demand. Storage has finite energy. Every hour needs an explicit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711B7-4A2C-4F53-9547-37D60CC1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B62"/>
                </a:solidFill>
                <a:latin typeface="Arial"/>
                <a:ea typeface="Arial"/>
                <a:cs typeface="Arial"/>
              </a:rPr>
              <a:t>GridLens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E6551-7E65-4CAE-BF53-F2DA5783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FAF39-2F4C-4A73-AA8C-153C586D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B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BF208-F882-4FCA-B832-F73BC315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Main grid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B6236-10DF-49E9-B5E8-10832836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Supply and battery charging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DB430-56B3-450D-8E51-551D3198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B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CDEE3-D19C-492E-B527-C9EF6F28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Renewable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DC89D-0A78-41A4-A2FA-743D0BC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Capacity, reserve and power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70F03-872D-40F5-9D17-5EE81C0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276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F"/>
          </a:solidFill>
          <a:ln xmlns:a="http://schemas.openxmlformats.org/drawingml/2006/main" w="14288">
            <a:solidFill>
              <a:srgbClr val="1638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BE47A-7E30-4808-96D3-BD628587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Hourly controller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95F80-38BB-47B3-858F-BAE80B2E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14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6E0D1"/>
                </a:solidFill>
                <a:latin typeface="Arial"/>
                <a:ea typeface="Arial"/>
                <a:cs typeface="Arial"/>
              </a:rPr>
              <a:t>Forecast and switching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91248-4E06-4722-AFF0-2B0818A3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040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B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2B324-5EAA-4707-92B4-0534A29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Microgrid 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95ACA-38DA-4F5B-A37B-28AFD62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8142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Demand forecast in 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FCE97-00BA-4F2E-AC46-C4CC48EA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02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7758"/>
                </a:solidFill>
                <a:latin typeface="Arial"/>
                <a:ea typeface="Arial"/>
                <a:cs typeface="Arial"/>
              </a:rPr>
              <a:t>24 hours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8DC01-17E6-448A-A0AC-D5BC1D51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955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One coherent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446B6-B406-4206-9984-85E6FACE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2F"/>
                </a:solidFill>
                <a:latin typeface="Arial"/>
                <a:ea typeface="Arial"/>
                <a:cs typeface="Arial"/>
              </a:rPr>
              <a:t>GridLens exposes overload risk and storage shortfall before a planned source transition.</a:t>
            </a:r>
          </a:p>
        </p:txBody>
      </p:sp>
    </p:spTree>
    <p:extLst>
      <p:ext uri="{BB962C8B-B14F-4D97-AF65-F5344CB8AC3E}">
        <p14:creationId xmlns:p14="http://schemas.microsoft.com/office/powerpoint/2010/main" val="1236631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699FF-62B2-4BC1-859C-E974C991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A working operations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E2F22-48AE-4E63-ACEF-917FE10B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A complete forecast workflow on desktop and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DB212-CC6B-4385-B8F3-CC439D81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B62"/>
                </a:solidFill>
                <a:latin typeface="Arial"/>
                <a:ea typeface="Arial"/>
                <a:cs typeface="Arial"/>
              </a:rPr>
              <a:t>GridLens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0A643-F7EE-40F2-AE90-E06CE26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0A547-079E-44AA-893B-5F03F4A709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2c45e41424047"/>
          <a:stretch xmlns:a="http://schemas.openxmlformats.org/drawingml/2006/main"/>
        </p:blipFill>
        <p:spPr>
          <a:xfrm xmlns:a="http://schemas.openxmlformats.org/drawingml/2006/main">
            <a:off x="2215621" y="1924050"/>
            <a:ext cx="5350933" cy="37623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916A2-F2C2-40A2-BAA6-F0C8C4CF8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96c2d3048445a"/>
          <a:stretch xmlns:a="http://schemas.openxmlformats.org/drawingml/2006/main"/>
        </p:blipFill>
        <p:spPr>
          <a:xfrm xmlns:a="http://schemas.openxmlformats.org/drawingml/2006/main">
            <a:off x="9553575" y="1862284"/>
            <a:ext cx="1971675" cy="426690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A3CDE-A460-4369-BBD0-7737AAF0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1650" u="sng">
                <a:solidFill>
                  <a:srgbClr val="207758"/>
                </a:solidFill>
                <a:latin typeface="Arial"/>
                <a:ea typeface="Arial"/>
                <a:cs typeface="Arial"/>
                <a:hlinkClick xmlns:r="http://schemas.openxmlformats.org/officeDocument/2006/relationships" r:id="R64475891bc7e47fc"/>
              </a:rPr>
              <a:t>Open the live dashboard</a:t>
            </a:r>
          </a:p>
        </p:txBody>
      </p:sp>
    </p:spTree>
    <p:extLst>
      <p:ext uri="{BB962C8B-B14F-4D97-AF65-F5344CB8AC3E}">
        <p14:creationId xmlns:p14="http://schemas.microsoft.com/office/powerpoint/2010/main" val="1161694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DFD07-EEE6-4013-8765-E75CD8FBB7F4}"/>
              </a:ext>
            </a:extLst>
          </p:cNvPr>
          <p:cNvCxnSpPr>
            <a:stCxn xmlns:a="http://schemas.openxmlformats.org/drawingml/2006/main" id="26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H="1" flipV="1">
            <a:off x="7929563" y="3571875"/>
            <a:ext cx="452438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7D042-A59E-4017-91F8-8BA478B45EE8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805363" y="3571875"/>
            <a:ext cx="1905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6937A-7FA8-43D4-9098-C874B424A25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96375" y="30241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E58E1-AE69-4927-A15C-C9B084C100D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72175" y="3024188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DEE0A-DCAF-47BF-865E-EA81EACB9D5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857500" y="3024188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7758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4577-CA19-4844-92B9-D292D4B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Catalyst cloud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96781-A8A2-4542-A034-8542F9A0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Shared feature preparation keeps training and inference consistent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A8EB7-8FA6-4E8D-AB30-9B0DF656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B62"/>
                </a:solidFill>
                <a:latin typeface="Arial"/>
                <a:ea typeface="Arial"/>
                <a:cs typeface="Arial"/>
              </a:rPr>
              <a:t>GridLens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83B0B-DD5A-4335-A379-5B7B6877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0EE19-680B-411D-B532-2829D10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B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1006F-CA95-4765-8522-F28356C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25260-B6E8-4CF9-9E46-791CF1A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CSV or hourly input 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3216E-0169-46CB-A606-DE71A2E0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F"/>
          </a:solidFill>
          <a:ln xmlns:a="http://schemas.openxmlformats.org/drawingml/2006/main" w="14288">
            <a:solidFill>
              <a:srgbClr val="1638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51045-ECAF-4841-BDAD-18C03734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AppSail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91CF6-7ADA-4349-8D93-5499D24C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1952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6E0D1"/>
                </a:solidFill>
                <a:latin typeface="Arial"/>
                <a:ea typeface="Arial"/>
                <a:cs typeface="Arial"/>
              </a:rPr>
              <a:t>Validate and build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E9B5C-F81A-441C-B0CF-25A977FE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F"/>
          </a:solidFill>
          <a:ln xmlns:a="http://schemas.openxmlformats.org/drawingml/2006/main" w="14288">
            <a:solidFill>
              <a:srgbClr val="1638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E27F0-400A-4206-A87F-838B5CA0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QuickML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017E4-CB64-4A6A-B60C-E85CC93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57525"/>
            <a:ext cx="1952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6E0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6E0D1"/>
                </a:solidFill>
                <a:latin typeface="Arial"/>
                <a:ea typeface="Arial"/>
                <a:cs typeface="Arial"/>
              </a:rPr>
              <a:t>Published XGB 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CC010-CC6F-48C8-B5FD-2E34A76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952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BD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7B19C-1F1D-4544-B39D-4E4DD2DF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479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Dispatch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55F2-B418-4C9B-B054-DFFADFA0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57525"/>
            <a:ext cx="1571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24 predictions and battery SOC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3F325-0D51-4CA0-9EC7-91EE5D1F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9625"/>
            <a:ext cx="2714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BD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B7388-4B34-432F-9FC7-596EE6F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910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Data Store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854A9-53B0-4339-A589-21BA5126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00650"/>
            <a:ext cx="2333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Session-scoped forecast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C0F08-916F-47C0-8BED-B1C19825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B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448C8-E3AF-4C88-BDEC-C667CF5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Training pipeline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1D494-D736-4A15-A12F-F2110373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006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4,000 labeled telemetry rows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8F3F9-B141-42DB-A6A5-9E12EE3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7758"/>
                </a:solidFill>
                <a:latin typeface="Arial"/>
                <a:ea typeface="Arial"/>
                <a:cs typeface="Arial"/>
              </a:rPr>
              <a:t>Managed server credentials stay in Catalyst</a:t>
            </a:r>
          </a:p>
        </p:txBody>
      </p:sp>
    </p:spTree>
    <p:extLst>
      <p:ext uri="{BB962C8B-B14F-4D97-AF65-F5344CB8AC3E}">
        <p14:creationId xmlns:p14="http://schemas.microsoft.com/office/powerpoint/2010/main" val="543261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D75E8-9D73-4979-A7BC-FEE1C2D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Forecast and dispatch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3F655-00D3-46A9-8F5C-1D4EEEB3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Every hourly prediction produces a source decision and an independent overload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838AA-35C2-407E-9294-378CC6F7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B62"/>
                </a:solidFill>
                <a:latin typeface="Arial"/>
                <a:ea typeface="Arial"/>
                <a:cs typeface="Arial"/>
              </a:rPr>
              <a:t>GridLens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A5380-9DBB-4723-8951-DB0AD99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F174825-103F-486D-BCBC-D8D0354DCDDB}"/>
              </a:ext>
            </a:extLst>
          </p:cNvPr>
          <p:cNvGraphicFramePr/>
          <p:nvPr/>
        </p:nvGraphicFramePr>
        <p:xfrm>
          <a:off xmlns:a="http://schemas.openxmlformats.org/drawingml/2006/main" x="523875" y="2095500"/>
          <a:ext xmlns:a="http://schemas.openxmlformats.org/drawingml/2006/main" cx="7143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8be63decfb440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07BA1-A2CF-4315-9D6A-0EA669F9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C15FD-DDC9-4C78-A89D-5FA93D5C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145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7758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032FA-D792-4AAF-8303-10E7DD11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14600"/>
            <a:ext cx="3381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Demand &gt;160 kW</a:t>
            </a:r>
          </a:p>
          <a:p xmlns:a="http://schemas.openxmlformats.org/drawingml/2006/main">
            <a: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or 18:00–22:00 inclusive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EDCFF-ACFA-469D-AD5C-D2860DE4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7758"/>
                </a:solidFill>
                <a:latin typeface="Arial"/>
                <a:ea typeface="Arial"/>
                <a:cs typeface="Arial"/>
              </a:rPr>
              <a:t>MAIN GRID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3EA03-4EDC-4BFA-A32D-345B85FA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All other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A9EDB-33D7-4D82-99D1-13B59DE4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053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481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8137"/>
                </a:solidFill>
                <a:latin typeface="Arial"/>
                <a:ea typeface="Arial"/>
                <a:cs typeface="Arial"/>
              </a:rPr>
              <a:t>CRITICAL ALERT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14011-5A05-4CC6-8B91-B7E4AB83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149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Demand ≥200 kW</a:t>
            </a:r>
          </a:p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Independent of source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F4C9A-ACCB-45CA-8B91-96DFB618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Real QuickML output: first 24 rows of the supplied sample input</a:t>
            </a:r>
          </a:p>
        </p:txBody>
      </p:sp>
    </p:spTree>
    <p:extLst>
      <p:ext uri="{BB962C8B-B14F-4D97-AF65-F5344CB8AC3E}">
        <p14:creationId xmlns:p14="http://schemas.microsoft.com/office/powerpoint/2010/main" val="1126317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DCA0A-D118-463B-BFC9-8EF06CDA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Model performance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F4BF9-5557-4331-8017-0038CE8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Published QuickML XGB regression trained on 4,000 supplied labeled rows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074AA-85C9-4FEE-93F3-0DE13E98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6B62"/>
                </a:solidFill>
                <a:latin typeface="Arial"/>
                <a:ea typeface="Arial"/>
                <a:cs typeface="Arial"/>
              </a:rPr>
              <a:t>GridLens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C8D41-2CB4-4D8E-89F9-E2EA98CD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90BD2-1113-4FFA-92E4-3C13BF6D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07758"/>
                </a:solidFill>
                <a:latin typeface="Arial"/>
                <a:ea typeface="Arial"/>
                <a:cs typeface="Arial"/>
              </a:rPr>
              <a:t>8.27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FF19C-8D55-46CA-8E22-D8EA2301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RMSE / 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A80C3-536E-4CCE-9FDE-706445D0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43125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07758"/>
                </a:solidFill>
                <a:latin typeface="Arial"/>
                <a:ea typeface="Arial"/>
                <a:cs typeface="Arial"/>
              </a:rPr>
              <a:t>6.54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8D2F1-B306-4903-B2AC-1323A4A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MAE / kW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DB55F-7DED-40A6-AAFB-EB6247D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0775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07758"/>
                </a:solidFill>
                <a:latin typeface="Arial"/>
                <a:ea typeface="Arial"/>
                <a:cs typeface="Arial"/>
              </a:rPr>
              <a:t>0.973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00846-7ADB-44B4-983F-8943EC1D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146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F3B15-9858-44B5-A818-9D50D8BA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QuickML built-in evaluation. Hidden-test accuracy remains unknown.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E014D-076D-4BAE-8B4E-DACA99DB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1,000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42FA9-1562-4A39-8A1C-7AB40E0F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557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Original evaluator: SUCCESS</a:t>
            </a:r>
          </a:p>
          <a:p xmlns:a="http://schemas.openxmlformats.org/drawingml/2006/main">
            <a: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Live QuickML with local fallback disabled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E7DB1-E95E-459F-91EA-CEDAE1B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720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2F"/>
                </a:solidFill>
                <a:latin typeface="Arial"/>
                <a:ea typeface="Arial"/>
                <a:cs typeface="Arial"/>
              </a:rPr>
              <a:t>36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A2EB1-7E34-46DE-9DD1-96E8667C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2197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Rules, input cleanup, order preservation,</a:t>
            </a:r>
          </a:p>
          <a:p xmlns:a="http://schemas.openxmlformats.org/drawingml/2006/main">
            <a:pPr>
              <a:defRPr sz="1800" b="0">
                <a:solidFill>
                  <a:srgbClr val="516B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B62"/>
                </a:solidFill>
                <a:latin typeface="Arial"/>
                <a:ea typeface="Arial"/>
                <a:cs typeface="Arial"/>
              </a:rPr>
              <a:t>session isolation and API behavior</a:t>
            </a:r>
          </a:p>
        </p:txBody>
      </p:sp>
    </p:spTree>
    <p:extLst>
      <p:ext uri="{BB962C8B-B14F-4D97-AF65-F5344CB8AC3E}">
        <p14:creationId xmlns:p14="http://schemas.microsoft.com/office/powerpoint/2010/main" val="407491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6B403-330E-4BFD-AC0F-F01A5DA47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cb2462ca349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FC01B-479D-4200-BAC6-87E383FA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 GridLens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4AB01-5FA1-4B4F-88F3-C7A6F28E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neevmodh205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4C9B6-A09C-4E4F-81CE-FA3B115C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0E7D8"/>
                </a:solidFill>
                <a:latin typeface="Arial"/>
                <a:ea typeface="Arial"/>
                <a:cs typeface="Arial"/>
              </a:rPr>
              <a:t>Neev Modh</a:t>
            </a:r>
          </a:p>
          <a:p xmlns:a="http://schemas.openxmlformats.org/drawingml/2006/main">
            <a:pPr>
              <a:defRPr sz="1950" b="0">
                <a:solidFill>
                  <a:srgbClr val="D0E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0E7D8"/>
                </a:solidFill>
                <a:latin typeface="Arial"/>
                <a:ea typeface="Arial"/>
                <a:cs typeface="Arial"/>
              </a:rPr>
              <a:t>Solo participant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EFDE6-A322-40DF-8553-FAC87E80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pPr>
            <a:r>
              <a:rPr sz="2175" u="sng">
                <a:solidFill>
                  <a:srgbClr val="B9E5CC"/>
                </a:solidFill>
                <a:latin typeface="Arial"/>
                <a:ea typeface="Arial"/>
                <a:cs typeface="Arial"/>
                <a:hlinkClick xmlns:r="http://schemas.openxmlformats.org/officeDocument/2006/relationships" r:id="R2038c6219e8949d2"/>
              </a:rPr>
              <a:t>Live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D977-9E75-4FAA-B509-F2CF128C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9E5CC"/>
                </a:solidFill>
                <a:latin typeface="Arial"/>
                <a:ea typeface="Arial"/>
                <a:cs typeface="Arial"/>
              </a:defRPr>
            </a:pPr>
            <a:r>
              <a:rPr sz="1950" u="sng">
                <a:solidFill>
                  <a:srgbClr val="B9E5CC"/>
                </a:solidFill>
                <a:latin typeface="Arial"/>
                <a:ea typeface="Arial"/>
                <a:cs typeface="Arial"/>
                <a:hlinkClick xmlns:r="http://schemas.openxmlformats.org/officeDocument/2006/relationships" r:id="R5a07e474f7244139"/>
              </a:rPr>
              <a:t>github.com/neevmodh/GridLens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13C82-CB60-4C00-9A2D-DCCFE0B5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CE3D3"/>
                </a:solidFill>
                <a:latin typeface="Arial"/>
                <a:ea typeface="Arial"/>
                <a:cs typeface="Arial"/>
              </a:rPr>
              <a:t>Forecasts and saved plans run on Catalyst.</a:t>
            </a:r>
          </a:p>
          <a:p xmlns:a="http://schemas.openxmlformats.org/drawingml/2006/main">
            <a:pPr>
              <a:defRPr sz="1725" b="0">
                <a:solidFill>
                  <a:srgbClr val="CCE3D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CE3D3"/>
                </a:solidFill>
                <a:latin typeface="Arial"/>
                <a:ea typeface="Arial"/>
                <a:cs typeface="Arial"/>
              </a:rPr>
              <a:t>Battery state and control commands are simulations.</a:t>
            </a:r>
          </a:p>
        </p:txBody>
      </p:sp>
    </p:spTree>
    <p:extLst>
      <p:ext uri="{BB962C8B-B14F-4D97-AF65-F5344CB8AC3E}">
        <p14:creationId xmlns:p14="http://schemas.microsoft.com/office/powerpoint/2010/main" val="1352269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2026-10-24T14:40:14.7440000Z</dcterms:created>
  <dcterms:modified xsi:type="dcterms:W3CDTF">2026-10-24T14:40:14.7440000Z</dcterms:modified>
</coreProperties>
</file>